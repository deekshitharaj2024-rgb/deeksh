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4D4746-036E-4671-8B18-30DFD1EB98E5}" v="3" dt="2025-10-31T06:56:29.8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38D11-C2F0-4477-BAC2-695853610EB4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292E9-2627-4FB4-AEFC-EC6AA257A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74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292E9-2627-4FB4-AEFC-EC6AA257AEB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020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915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607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24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389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59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923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30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763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19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63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916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2065E-AE99-4D94-B5B0-3BCB7555988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0C03D26-BD54-4345-A011-B5EDBC75795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41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F5AB4-4E89-0F9F-1AA7-942F4CAA8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213" y="-629266"/>
            <a:ext cx="7895302" cy="3362634"/>
          </a:xfrm>
        </p:spPr>
        <p:txBody>
          <a:bodyPr/>
          <a:lstStyle/>
          <a:p>
            <a:r>
              <a:rPr lang="en-IN" b="1" dirty="0"/>
              <a:t>WEEK-10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BE2A5-3333-9ED9-9558-393B595976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33368"/>
            <a:ext cx="9144000" cy="2524432"/>
          </a:xfrm>
        </p:spPr>
        <p:txBody>
          <a:bodyPr>
            <a:normAutofit/>
          </a:bodyPr>
          <a:lstStyle/>
          <a:p>
            <a:r>
              <a:rPr lang="en-IN" sz="4400" b="1" dirty="0"/>
              <a:t>Specialised Processors</a:t>
            </a:r>
          </a:p>
        </p:txBody>
      </p:sp>
    </p:spTree>
    <p:extLst>
      <p:ext uri="{BB962C8B-B14F-4D97-AF65-F5344CB8AC3E}">
        <p14:creationId xmlns:p14="http://schemas.microsoft.com/office/powerpoint/2010/main" val="136069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FEFCB4-7968-2C46-4769-F0057B4001CF}"/>
              </a:ext>
            </a:extLst>
          </p:cNvPr>
          <p:cNvSpPr txBox="1"/>
          <p:nvPr/>
        </p:nvSpPr>
        <p:spPr>
          <a:xfrm>
            <a:off x="334297" y="137650"/>
            <a:ext cx="88588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Specialized processors</a:t>
            </a:r>
            <a:r>
              <a:rPr lang="en-US" dirty="0"/>
              <a:t> are computer processing units designed to perform a </a:t>
            </a:r>
            <a:r>
              <a:rPr lang="en-US" b="1" dirty="0"/>
              <a:t>specific type of task or workload efficiently</a:t>
            </a:r>
            <a:r>
              <a:rPr lang="en-US" dirty="0"/>
              <a:t>, unlike general-purpose CPUs that handle a wide range of operations. These processors are optimized for speed, power efficiency, or performance in particular applications.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81455-68C5-6460-4815-181D1F1A5FAD}"/>
              </a:ext>
            </a:extLst>
          </p:cNvPr>
          <p:cNvSpPr txBox="1"/>
          <p:nvPr/>
        </p:nvSpPr>
        <p:spPr>
          <a:xfrm>
            <a:off x="319549" y="1632154"/>
            <a:ext cx="927181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Key Types of Specialized Processors:</a:t>
            </a:r>
          </a:p>
          <a:p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1.Graphics Processing Unit(GPU)</a:t>
            </a:r>
          </a:p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2Tensor Processing Unit (TPU)</a:t>
            </a:r>
          </a:p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3.Neural processing Unit(NPU)</a:t>
            </a:r>
          </a:p>
          <a:p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IN" sz="2000" b="1" dirty="0"/>
              <a:t>1.Graphics Processing Unit (GPU)</a:t>
            </a:r>
          </a:p>
          <a:p>
            <a:endParaRPr lang="en-IN" sz="2000" b="1" dirty="0"/>
          </a:p>
          <a:p>
            <a:r>
              <a:rPr lang="en-IN" sz="2000" b="1" dirty="0"/>
              <a:t>Purpose:</a:t>
            </a:r>
            <a:r>
              <a:rPr lang="en-IN" sz="2000" dirty="0"/>
              <a:t> Handles graphics rendering and parallel computations.</a:t>
            </a:r>
          </a:p>
          <a:p>
            <a:r>
              <a:rPr lang="en-IN" sz="2000" b="1" dirty="0"/>
              <a:t>Used in:</a:t>
            </a:r>
            <a:r>
              <a:rPr lang="en-IN" sz="2000" dirty="0"/>
              <a:t> Gaming, animation, AI training, data science.</a:t>
            </a:r>
          </a:p>
          <a:p>
            <a:r>
              <a:rPr lang="en-IN" sz="2000" b="1" dirty="0"/>
              <a:t>Example:</a:t>
            </a:r>
            <a:r>
              <a:rPr lang="en-IN" sz="2000" dirty="0"/>
              <a:t> NVIDIA GeForce, AMD Radeon.</a:t>
            </a:r>
          </a:p>
          <a:p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124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986987-7DCD-C2F9-9600-3F44CD2782E8}"/>
              </a:ext>
            </a:extLst>
          </p:cNvPr>
          <p:cNvSpPr txBox="1"/>
          <p:nvPr/>
        </p:nvSpPr>
        <p:spPr>
          <a:xfrm>
            <a:off x="304800" y="581726"/>
            <a:ext cx="88465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2.Tensor Processing Unit (TPU)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Optimized for AI and deep learning (matrix and tensor operations).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Used in:</a:t>
            </a:r>
            <a:r>
              <a:rPr lang="en-US" dirty="0"/>
              <a:t> Machine learning workloads and neural network computations.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r>
              <a:rPr lang="en-US" dirty="0"/>
              <a:t> Google TPU.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EEFFD-1A71-6B2D-7A0F-D7A88B5B7BAE}"/>
              </a:ext>
            </a:extLst>
          </p:cNvPr>
          <p:cNvSpPr txBox="1"/>
          <p:nvPr/>
        </p:nvSpPr>
        <p:spPr>
          <a:xfrm>
            <a:off x="304800" y="2949677"/>
            <a:ext cx="1059917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3.Neural Processing Unit (NPU)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Purpose</a:t>
            </a:r>
            <a:r>
              <a:rPr lang="en-IN" b="1" dirty="0"/>
              <a:t>:</a:t>
            </a:r>
            <a:r>
              <a:rPr lang="en-IN" dirty="0"/>
              <a:t> Dedicated to accelerating AI inference (especially on devices).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Used in:</a:t>
            </a:r>
            <a:r>
              <a:rPr lang="en-IN" dirty="0"/>
              <a:t> Smartphones, smart cameras, AI IoT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Example:</a:t>
            </a:r>
            <a:r>
              <a:rPr lang="en-IN" dirty="0"/>
              <a:t> Apple Neural Engine.</a:t>
            </a:r>
          </a:p>
        </p:txBody>
      </p:sp>
    </p:spTree>
    <p:extLst>
      <p:ext uri="{BB962C8B-B14F-4D97-AF65-F5344CB8AC3E}">
        <p14:creationId xmlns:p14="http://schemas.microsoft.com/office/powerpoint/2010/main" val="347068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25403F-445E-6378-D860-7F230504B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000105"/>
              </p:ext>
            </p:extLst>
          </p:nvPr>
        </p:nvGraphicFramePr>
        <p:xfrm>
          <a:off x="432618" y="825909"/>
          <a:ext cx="11326764" cy="5848657"/>
        </p:xfrm>
        <a:graphic>
          <a:graphicData uri="http://schemas.openxmlformats.org/drawingml/2006/table">
            <a:tbl>
              <a:tblPr/>
              <a:tblGrid>
                <a:gridCol w="2680833">
                  <a:extLst>
                    <a:ext uri="{9D8B030D-6E8A-4147-A177-3AD203B41FA5}">
                      <a16:colId xmlns:a16="http://schemas.microsoft.com/office/drawing/2014/main" val="825720824"/>
                    </a:ext>
                  </a:extLst>
                </a:gridCol>
                <a:gridCol w="2881977">
                  <a:extLst>
                    <a:ext uri="{9D8B030D-6E8A-4147-A177-3AD203B41FA5}">
                      <a16:colId xmlns:a16="http://schemas.microsoft.com/office/drawing/2014/main" val="3520677885"/>
                    </a:ext>
                  </a:extLst>
                </a:gridCol>
                <a:gridCol w="2881977">
                  <a:extLst>
                    <a:ext uri="{9D8B030D-6E8A-4147-A177-3AD203B41FA5}">
                      <a16:colId xmlns:a16="http://schemas.microsoft.com/office/drawing/2014/main" val="3948300778"/>
                    </a:ext>
                  </a:extLst>
                </a:gridCol>
                <a:gridCol w="2881977">
                  <a:extLst>
                    <a:ext uri="{9D8B030D-6E8A-4147-A177-3AD203B41FA5}">
                      <a16:colId xmlns:a16="http://schemas.microsoft.com/office/drawing/2014/main" val="3107021556"/>
                    </a:ext>
                  </a:extLst>
                </a:gridCol>
              </a:tblGrid>
              <a:tr h="1419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             Feature</a:t>
                      </a:r>
                      <a:endParaRPr lang="en-IN" sz="18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GPU (Graphics Processing Unit)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TPU (Tensor Processing Unit)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NPU (Neural Processing Unit)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835049"/>
                  </a:ext>
                </a:extLst>
              </a:tr>
              <a:tr h="34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Full Form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Graphics Processing Unit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Tensor Processing Unit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Neural Processing Unit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667609"/>
                  </a:ext>
                </a:extLst>
              </a:tr>
              <a:tr h="49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Developed By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NVIDIA, AMD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Google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Various (Apple, Huawei, Qualcomm, etc.)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170100"/>
                  </a:ext>
                </a:extLst>
              </a:tr>
              <a:tr h="49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Primary Purpose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Parallel computation and graphics rendering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Accelerating tensor and matrix operations in AI models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Accelerating neural network inference on devices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855989"/>
                  </a:ext>
                </a:extLst>
              </a:tr>
              <a:tr h="49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Main Function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General-purpose parallel computing (AI, gaming, graphics)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Deep learning model training and inference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On-device AI tasks (image, voice, object recognition)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9556"/>
                  </a:ext>
                </a:extLst>
              </a:tr>
              <a:tr h="49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Power Consumption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High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High to moderate (data centers)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Very low (optimized for edge devices)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721917"/>
                  </a:ext>
                </a:extLst>
              </a:tr>
              <a:tr h="4330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136618"/>
                  </a:ext>
                </a:extLst>
              </a:tr>
              <a:tr h="427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Used In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PCs, gaming systems, servers, AI training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Google Cloud data centers, AI research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Smartphones, cameras, IoT devices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58787"/>
                  </a:ext>
                </a:extLst>
              </a:tr>
              <a:tr h="433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Examples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NVIDIA RTX, AMD Radeon, Tesla GPU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Google TPU v4, TPU Edge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Apple Neural Engine, Huawei Kirin NPU, Qualcomm Hexagon</a:t>
                      </a:r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765980"/>
                  </a:ext>
                </a:extLst>
              </a:tr>
              <a:tr h="4908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22536"/>
                  </a:ext>
                </a:extLst>
              </a:tr>
              <a:tr h="4330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053072"/>
                  </a:ext>
                </a:extLst>
              </a:tr>
              <a:tr h="4908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34845" marR="34845" marT="17422" marB="174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07543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7D9CC7-A8AD-9B79-EF53-A198130DB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57598"/>
              </p:ext>
            </p:extLst>
          </p:nvPr>
        </p:nvGraphicFramePr>
        <p:xfrm>
          <a:off x="432619" y="737419"/>
          <a:ext cx="11326763" cy="486696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326763">
                  <a:extLst>
                    <a:ext uri="{9D8B030D-6E8A-4147-A177-3AD203B41FA5}">
                      <a16:colId xmlns:a16="http://schemas.microsoft.com/office/drawing/2014/main" val="1851231960"/>
                    </a:ext>
                  </a:extLst>
                </a:gridCol>
              </a:tblGrid>
              <a:tr h="4866967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5589878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5CE3D9-1677-4AF6-F188-4758F1B37C72}"/>
              </a:ext>
            </a:extLst>
          </p:cNvPr>
          <p:cNvSpPr txBox="1"/>
          <p:nvPr/>
        </p:nvSpPr>
        <p:spPr>
          <a:xfrm>
            <a:off x="2912807" y="292198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COMPARISON OF GPU,TPU,NPU</a:t>
            </a:r>
          </a:p>
        </p:txBody>
      </p:sp>
    </p:spTree>
    <p:extLst>
      <p:ext uri="{BB962C8B-B14F-4D97-AF65-F5344CB8AC3E}">
        <p14:creationId xmlns:p14="http://schemas.microsoft.com/office/powerpoint/2010/main" val="206615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764740-DC2A-9D00-3C78-1B431E8A6869}"/>
              </a:ext>
            </a:extLst>
          </p:cNvPr>
          <p:cNvSpPr txBox="1"/>
          <p:nvPr/>
        </p:nvSpPr>
        <p:spPr>
          <a:xfrm>
            <a:off x="314632" y="353962"/>
            <a:ext cx="8256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Need for Specialized Processor: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C06D4-9A19-9C0D-5502-C3EE1F0AA92D}"/>
              </a:ext>
            </a:extLst>
          </p:cNvPr>
          <p:cNvSpPr txBox="1"/>
          <p:nvPr/>
        </p:nvSpPr>
        <p:spPr>
          <a:xfrm>
            <a:off x="314631" y="1234399"/>
            <a:ext cx="8256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Limitations of General-Purpose CPUs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Traditional </a:t>
            </a:r>
            <a:r>
              <a:rPr lang="en-US" b="1" dirty="0"/>
              <a:t>CPUs</a:t>
            </a:r>
            <a:r>
              <a:rPr lang="en-US" dirty="0"/>
              <a:t> are designed to handle a </a:t>
            </a:r>
            <a:r>
              <a:rPr lang="en-US" b="1" dirty="0"/>
              <a:t>wide variety of tasks.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EE3E1-90FE-FCAF-A139-8243FA30AE43}"/>
              </a:ext>
            </a:extLst>
          </p:cNvPr>
          <p:cNvSpPr txBox="1"/>
          <p:nvPr/>
        </p:nvSpPr>
        <p:spPr>
          <a:xfrm>
            <a:off x="314630" y="2299502"/>
            <a:ext cx="80526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High Performance for Specific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Specialized processors (like GPUs, TPUs, NPUs.) are built to </a:t>
            </a:r>
            <a:r>
              <a:rPr lang="en-US" b="1" dirty="0"/>
              <a:t>handle certain operations much faster</a:t>
            </a:r>
            <a:r>
              <a:rPr lang="en-US" dirty="0"/>
              <a:t> than CPUs.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8EEE72-0872-92C2-91AE-CFAE6153673E}"/>
              </a:ext>
            </a:extLst>
          </p:cNvPr>
          <p:cNvSpPr txBox="1"/>
          <p:nvPr/>
        </p:nvSpPr>
        <p:spPr>
          <a:xfrm>
            <a:off x="314630" y="3510568"/>
            <a:ext cx="8052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Improved Power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CPUs consume more power when handling intensive specialized tasks.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3D5224-9B4E-762F-725F-9A1EB325A9AA}"/>
              </a:ext>
            </a:extLst>
          </p:cNvPr>
          <p:cNvSpPr txBox="1"/>
          <p:nvPr/>
        </p:nvSpPr>
        <p:spPr>
          <a:xfrm>
            <a:off x="314630" y="4398692"/>
            <a:ext cx="86622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Support for Edge Computing and Mobile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Devices like smartphones, drones, and smart cameras need </a:t>
            </a:r>
            <a:r>
              <a:rPr lang="en-US" b="1" dirty="0"/>
              <a:t>local AI processing</a:t>
            </a:r>
            <a:r>
              <a:rPr lang="en-US" dirty="0"/>
              <a:t> without relying on cloud servers.</a:t>
            </a:r>
          </a:p>
        </p:txBody>
      </p:sp>
    </p:spTree>
    <p:extLst>
      <p:ext uri="{BB962C8B-B14F-4D97-AF65-F5344CB8AC3E}">
        <p14:creationId xmlns:p14="http://schemas.microsoft.com/office/powerpoint/2010/main" val="341118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1A6E04-07CF-A6FB-9CA5-9B835A0101FE}"/>
              </a:ext>
            </a:extLst>
          </p:cNvPr>
          <p:cNvSpPr txBox="1"/>
          <p:nvPr/>
        </p:nvSpPr>
        <p:spPr>
          <a:xfrm>
            <a:off x="395748" y="1095900"/>
            <a:ext cx="102034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 GPU is made up of </a:t>
            </a:r>
            <a:r>
              <a:rPr lang="en-US" b="1" dirty="0"/>
              <a:t>many small, parallel cores</a:t>
            </a:r>
            <a:r>
              <a:rPr lang="en-US" dirty="0"/>
              <a:t>, </a:t>
            </a:r>
            <a:r>
              <a:rPr lang="en-US" b="1" dirty="0"/>
              <a:t>high-speed memory (VRAM)</a:t>
            </a:r>
            <a:r>
              <a:rPr lang="en-US" dirty="0"/>
              <a:t>, and </a:t>
            </a:r>
            <a:r>
              <a:rPr lang="en-US" b="1" dirty="0"/>
              <a:t>specialized units</a:t>
            </a:r>
            <a:r>
              <a:rPr lang="en-US" dirty="0"/>
              <a:t> like shaders, TMUs, and ROPs that work together to process complex images and AI computations quickly.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2F34A-B175-8B70-C232-07863DFA1811}"/>
              </a:ext>
            </a:extLst>
          </p:cNvPr>
          <p:cNvSpPr txBox="1"/>
          <p:nvPr/>
        </p:nvSpPr>
        <p:spPr>
          <a:xfrm>
            <a:off x="395748" y="32169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Components Of GPU: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4D0CB-942A-440D-AE80-B70E98C1B815}"/>
              </a:ext>
            </a:extLst>
          </p:cNvPr>
          <p:cNvSpPr txBox="1"/>
          <p:nvPr/>
        </p:nvSpPr>
        <p:spPr>
          <a:xfrm>
            <a:off x="395748" y="2113001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1.GPU Cores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F4F2F1D-5EA6-6881-9B01-87A160196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959942"/>
              </p:ext>
            </p:extLst>
          </p:nvPr>
        </p:nvGraphicFramePr>
        <p:xfrm>
          <a:off x="1450975" y="3558064"/>
          <a:ext cx="9604375" cy="365760"/>
        </p:xfrm>
        <a:graphic>
          <a:graphicData uri="http://schemas.openxmlformats.org/drawingml/2006/table">
            <a:tbl>
              <a:tblPr/>
              <a:tblGrid>
                <a:gridCol w="9604375">
                  <a:extLst>
                    <a:ext uri="{9D8B030D-6E8A-4147-A177-3AD203B41FA5}">
                      <a16:colId xmlns:a16="http://schemas.microsoft.com/office/drawing/2014/main" val="1812156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3352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6481A01-F7AB-F3F0-F3F1-F1808617A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438289"/>
              </p:ext>
            </p:extLst>
          </p:nvPr>
        </p:nvGraphicFramePr>
        <p:xfrm>
          <a:off x="395748" y="2659856"/>
          <a:ext cx="9604375" cy="365760"/>
        </p:xfrm>
        <a:graphic>
          <a:graphicData uri="http://schemas.openxmlformats.org/drawingml/2006/table">
            <a:tbl>
              <a:tblPr/>
              <a:tblGrid>
                <a:gridCol w="9604375">
                  <a:extLst>
                    <a:ext uri="{9D8B030D-6E8A-4147-A177-3AD203B41FA5}">
                      <a16:colId xmlns:a16="http://schemas.microsoft.com/office/drawing/2014/main" val="334944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These are the </a:t>
                      </a:r>
                      <a:r>
                        <a:rPr lang="en-US" b="1" dirty="0"/>
                        <a:t>individual processing units</a:t>
                      </a:r>
                      <a:r>
                        <a:rPr lang="en-US" dirty="0"/>
                        <a:t> inside the GPU that perform parallel computations.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36359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CC7CEFF-C6DF-CE1B-2315-8E73D5256063}"/>
              </a:ext>
            </a:extLst>
          </p:cNvPr>
          <p:cNvSpPr txBox="1"/>
          <p:nvPr/>
        </p:nvSpPr>
        <p:spPr>
          <a:xfrm>
            <a:off x="395747" y="3273062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2.Graphics Memory (VRAM)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1613E3-C586-FE6C-4C7F-C99A1B1AC9E0}"/>
              </a:ext>
            </a:extLst>
          </p:cNvPr>
          <p:cNvSpPr txBox="1"/>
          <p:nvPr/>
        </p:nvSpPr>
        <p:spPr>
          <a:xfrm>
            <a:off x="395746" y="3889840"/>
            <a:ext cx="9839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Video RAM (VRAM)</a:t>
            </a:r>
            <a:r>
              <a:rPr lang="en-US" dirty="0"/>
              <a:t> - It provides </a:t>
            </a:r>
            <a:r>
              <a:rPr lang="en-US" b="1" dirty="0"/>
              <a:t>high-speed data access</a:t>
            </a:r>
            <a:r>
              <a:rPr lang="en-US" dirty="0"/>
              <a:t> to the GPU while rendering images. 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A77FB6-B816-5F2A-CFC9-F280988DD390}"/>
              </a:ext>
            </a:extLst>
          </p:cNvPr>
          <p:cNvSpPr txBox="1"/>
          <p:nvPr/>
        </p:nvSpPr>
        <p:spPr>
          <a:xfrm>
            <a:off x="395746" y="4616048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3.GPU Cache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35FAA5-A188-561C-CAB3-02FDE152D2DE}"/>
              </a:ext>
            </a:extLst>
          </p:cNvPr>
          <p:cNvSpPr txBox="1"/>
          <p:nvPr/>
        </p:nvSpPr>
        <p:spPr>
          <a:xfrm>
            <a:off x="395746" y="5204092"/>
            <a:ext cx="80796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Small, high-speed memory inside the GPU that stores frequently used data and instructions to speed up processing.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695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A0CA4D-192B-FF82-C443-3E3210C3F62B}"/>
              </a:ext>
            </a:extLst>
          </p:cNvPr>
          <p:cNvSpPr txBox="1"/>
          <p:nvPr/>
        </p:nvSpPr>
        <p:spPr>
          <a:xfrm>
            <a:off x="3837039" y="134883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Functions of a GPU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36F290-530C-3AF4-BB48-71468E449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786349"/>
              </p:ext>
            </p:extLst>
          </p:nvPr>
        </p:nvGraphicFramePr>
        <p:xfrm>
          <a:off x="373626" y="668594"/>
          <a:ext cx="11356258" cy="4914808"/>
        </p:xfrm>
        <a:graphic>
          <a:graphicData uri="http://schemas.openxmlformats.org/drawingml/2006/table">
            <a:tbl>
              <a:tblPr/>
              <a:tblGrid>
                <a:gridCol w="5678129">
                  <a:extLst>
                    <a:ext uri="{9D8B030D-6E8A-4147-A177-3AD203B41FA5}">
                      <a16:colId xmlns:a16="http://schemas.microsoft.com/office/drawing/2014/main" val="1266065750"/>
                    </a:ext>
                  </a:extLst>
                </a:gridCol>
                <a:gridCol w="5678129">
                  <a:extLst>
                    <a:ext uri="{9D8B030D-6E8A-4147-A177-3AD203B41FA5}">
                      <a16:colId xmlns:a16="http://schemas.microsoft.com/office/drawing/2014/main" val="1600899585"/>
                    </a:ext>
                  </a:extLst>
                </a:gridCol>
              </a:tblGrid>
              <a:tr h="296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Function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Description</a:t>
                      </a:r>
                      <a:endParaRPr lang="en-IN" sz="1600" dirty="0"/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469038"/>
                  </a:ext>
                </a:extLst>
              </a:tr>
              <a:tr h="967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1. Graphics Rendering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The primary function of a GPU is to </a:t>
                      </a:r>
                      <a:r>
                        <a:rPr lang="en-US" sz="1600" b="1" dirty="0"/>
                        <a:t>render images, videos, and animations</a:t>
                      </a:r>
                      <a:r>
                        <a:rPr lang="en-US" sz="1600" dirty="0"/>
                        <a:t>. </a:t>
                      </a:r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223562"/>
                  </a:ext>
                </a:extLst>
              </a:tr>
              <a:tr h="1191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2. Parallel Processing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GPU contains </a:t>
                      </a:r>
                      <a:r>
                        <a:rPr lang="en-US" sz="1600" b="1" dirty="0"/>
                        <a:t>hundreds or thousands of cores</a:t>
                      </a:r>
                      <a:r>
                        <a:rPr lang="en-US" sz="1600" dirty="0"/>
                        <a:t> that can perform multiple calculations simultaneously.</a:t>
                      </a:r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170389"/>
                  </a:ext>
                </a:extLst>
              </a:tr>
              <a:tr h="744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3. 3D Graphics Processing</a:t>
                      </a:r>
                      <a:endParaRPr lang="en-IN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Handles </a:t>
                      </a:r>
                      <a:r>
                        <a:rPr lang="en-US" sz="1600" b="1" dirty="0"/>
                        <a:t>3D modeling, shading, lighting,  </a:t>
                      </a:r>
                      <a:r>
                        <a:rPr lang="en-US" sz="1600" dirty="0"/>
                        <a:t>to create 3D visuals in games </a:t>
                      </a:r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220990"/>
                  </a:ext>
                </a:extLst>
              </a:tr>
              <a:tr h="744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4. Image and Video Processing</a:t>
                      </a:r>
                      <a:endParaRPr lang="en-US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for </a:t>
                      </a:r>
                      <a:r>
                        <a:rPr lang="en-US" sz="1600" b="1" dirty="0"/>
                        <a:t>editing, encoding, decoding, </a:t>
                      </a:r>
                      <a:r>
                        <a:rPr lang="en-US" sz="1600" dirty="0"/>
                        <a:t> videos efficiently.</a:t>
                      </a:r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32592"/>
                  </a:ext>
                </a:extLst>
              </a:tr>
              <a:tr h="967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5. Acceleration of Machine Learning &amp; AI</a:t>
                      </a:r>
                      <a:endParaRPr lang="en-US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Modern GPUs accelerate </a:t>
                      </a:r>
                      <a:r>
                        <a:rPr lang="en-US" sz="1600" b="1" dirty="0"/>
                        <a:t>AI and deep learning</a:t>
                      </a:r>
                      <a:r>
                        <a:rPr lang="en-US" sz="1600" dirty="0"/>
                        <a:t> by performing fast </a:t>
                      </a:r>
                      <a:r>
                        <a:rPr lang="en-US" sz="1600" b="1" dirty="0"/>
                        <a:t>matrix and tensor operations.</a:t>
                      </a:r>
                      <a:endParaRPr lang="en-US" sz="1600" dirty="0"/>
                    </a:p>
                  </a:txBody>
                  <a:tcPr marL="54756" marR="54756" marT="27378" marB="27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653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90213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79</TotalTime>
  <Words>671</Words>
  <Application>Microsoft Office PowerPoint</Application>
  <PresentationFormat>Widescreen</PresentationFormat>
  <Paragraphs>89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Gallery</vt:lpstr>
      <vt:lpstr>WEEK-10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deeksha r</dc:creator>
  <cp:lastModifiedBy>deeksha r</cp:lastModifiedBy>
  <cp:revision>2</cp:revision>
  <dcterms:created xsi:type="dcterms:W3CDTF">2025-10-30T05:12:07Z</dcterms:created>
  <dcterms:modified xsi:type="dcterms:W3CDTF">2025-10-31T07:03:12Z</dcterms:modified>
</cp:coreProperties>
</file>